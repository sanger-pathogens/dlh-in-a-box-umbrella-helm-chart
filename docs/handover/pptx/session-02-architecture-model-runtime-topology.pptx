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02: Architecture Model And Runtime Topology
Slide 01: Architecture Model And Runtime Topology
Presenter script:
Open with the promise: after this session, architecture diagrams should reduce confusion rather than add a new artifact to maintain.
Source: Handover synthesis from published repository docs.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02: Architecture Model And Runtime Topology
Slide 02: Session path
Presenter script:
Explain that the model is intentionally generic and excludes deployment-specific infrastructure except as external context.
Source: Handover session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02: Architecture Model And Runtime Topology
Slide 03: The model is scoped to the reusable chart
Presenter script:
Use this slide to prevent scope creep. The architecture model is not the Sanger or icddr,b deployment architecture.
Source: Source: IcePanel model, Modelling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02: Architecture Model And Runtime Topology
Slide 04: Level 1: context and consumers
Presenter script:
Point to the direction of flow: upstream dependencies feed the chart; consumer repos configure it; the runtime runs on a target cluster.
Source: Source: IcePanel 01-context.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02: Architecture Model And Runtime Topology
Slide 05: Level 2A: chart product and packaging
Presenter script:
This is the maintainers' build-and-release view. Use it when someone changes dependency versions or package contents.
Source: Source: IcePanel 02-chart-product-and-packaging.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02: Architecture Model And Runtime Topology
Slide 06: Level 2B: runtime deployed by the chart
Presenter script:
This is the operational view. It is dense, so narrate around the central Trino/data-plane cluster first.
Source: Source: IcePanel 03-runtime-deployed-by-the-chart.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02: Architecture Model And Runtime Topology
Slide 07: Manual view: everything enabled
Presenter script:
Use this as a friendlier bridge between prose docs and the more formal IcePanel runtime view.
Source: Source: manual Platform Architecture Mermaid.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02: Architecture Model And Runtime Topology
Slide 08: How the chart assembles the runtime
Presenter script:
This is the transition from architecture to implementation. Session four will go deeper into this path.
Source: Source: manual How The Chart Assembles The Runtime Mermaid.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02: Architecture Model And Runtime Topology
Slide 09: Use the right diagram for the question
Presenter script:
Give maintainers permission to choose a diagram based on the question instead of opening the largest one first.
Source: Source: IcePanel model diagram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02: Architecture Model And Runtime Topology
Slide 10: Guided checkpoint: trace one feature through the model
Presenter script:
Run this as a whiteboard exercise if not using a laptop. Pick Trino because it touches the most important boundaries.
Source: Guided demo/checkpoint for live handover delivery.
Demo/checkpoint cue:
Treat this as optional live material. If time or tooling is unavailable, discuss the commands and expected reasoning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02: Architecture Model And Runtime Topology
Slide 11: Session 02 landing
Presenter script:
Preview session three: now that the topology is clear, the next handover shows how install profiles choose runtime shapes.
Source: Handover session wrap-up.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520440" cy="6858000"/>
          </a:xfrm>
          <a:prstGeom prst="rect">
            <a:avLst/>
          </a:prstGeom>
          <a:solidFill>
            <a:srgbClr val="0B1F2A"/>
          </a:solidFill>
          <a:ln w="12700">
            <a:solidFill>
              <a:srgbClr val="0B1F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520440" y="0"/>
            <a:ext cx="109728" cy="6858000"/>
          </a:xfrm>
          <a:prstGeom prst="rect">
            <a:avLst/>
          </a:prstGeom>
          <a:solidFill>
            <a:srgbClr val="1B6E55"/>
          </a:solidFill>
          <a:ln w="12700">
            <a:solidFill>
              <a:srgbClr val="1B6E55"/>
            </a:solidFill>
            <a:prstDash val="solid"/>
          </a:ln>
        </p:spPr>
      </p:sp>
      <p:pic>
        <p:nvPicPr>
          <p:cNvPr id="5" name="Image 0" descr="/Users/CV4/code/dlh-in-a-box-umbrella-helm-chart/docs/assets/dlh-in-a-box-ic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109728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29844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E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02 / C4 and IcePanel handover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1828800"/>
            <a:ext cx="2697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Model And Runtime Topology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02920" y="53218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E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hour handover deck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568756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E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40-45 min narrative / 10-15 min checkpoint / 5 min Q&amp;A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977640" y="457200"/>
            <a:ext cx="7635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BD2D9">
                <a:alpha val="90000"/>
              </a:srgbClr>
            </a:solidFill>
            <a:prstDash val="solid"/>
          </a:ln>
        </p:spPr>
      </p:sp>
      <p:pic>
        <p:nvPicPr>
          <p:cNvPr id="11" name="Image 1" descr="/Users/CV4/code/dlh-in-a-box-umbrella-helm-chart/docs/architecture/icepanel/exports/dlh-in-a-box/png-light/03-runtime-deployed-by-the-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781" y="457200"/>
            <a:ext cx="5614958" cy="45262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60520" y="5230368"/>
            <a:ext cx="7178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separates chart product, published package, consumer configuration, and deployed runtime.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02 / Architecture Model And Runtime Topology</a:t>
            </a:r>
            <a:endParaRPr lang="en-US" sz="650" dirty="0"/>
          </a:p>
        </p:txBody>
      </p:sp>
      <p:sp>
        <p:nvSpPr>
          <p:cNvPr id="14" name="Text 10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Handover synthesis from published repository docs.</a:t>
            </a:r>
            <a:endParaRPr lang="en-US" sz="650" dirty="0"/>
          </a:p>
        </p:txBody>
      </p:sp>
      <p:sp>
        <p:nvSpPr>
          <p:cNvPr id="15" name="Text 11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path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7276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hour covers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13232" y="2075688"/>
            <a:ext cx="347472" cy="347472"/>
          </a:xfrm>
          <a:prstGeom prst="ellipse">
            <a:avLst/>
          </a:prstGeom>
          <a:solidFill>
            <a:srgbClr val="EEF5F2"/>
          </a:solidFill>
          <a:ln w="12700">
            <a:solidFill>
              <a:srgbClr val="1B6E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14884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234440" y="205740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Modelling rules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13232" y="2788920"/>
            <a:ext cx="347472" cy="347472"/>
          </a:xfrm>
          <a:prstGeom prst="ellipse">
            <a:avLst/>
          </a:prstGeom>
          <a:solidFill>
            <a:srgbClr val="EEF5F2"/>
          </a:solidFill>
          <a:ln w="12700">
            <a:solidFill>
              <a:srgbClr val="1B6E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862072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234440" y="2770632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Packaging view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13232" y="3502152"/>
            <a:ext cx="347472" cy="347472"/>
          </a:xfrm>
          <a:prstGeom prst="ellipse">
            <a:avLst/>
          </a:prstGeom>
          <a:solidFill>
            <a:srgbClr val="EEF5F2"/>
          </a:solidFill>
          <a:ln w="12700">
            <a:solidFill>
              <a:srgbClr val="1B6E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575304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234440" y="3483864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view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13232" y="4215384"/>
            <a:ext cx="347472" cy="347472"/>
          </a:xfrm>
          <a:prstGeom prst="ellipse">
            <a:avLst/>
          </a:prstGeom>
          <a:solidFill>
            <a:srgbClr val="EEF5F2"/>
          </a:solidFill>
          <a:ln w="12700">
            <a:solidFill>
              <a:srgbClr val="1B6E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4288536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234440" y="4197096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diagrams support changes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8641080" y="1627632"/>
            <a:ext cx="2560320" cy="3977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2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15400" y="1938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rhythm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915400" y="2487168"/>
            <a:ext cx="1965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40-45 min narrative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10-15 min checkpoint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min Q&amp;A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915400" y="44348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Presenter notes carry the script and demo prompts.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02 / Architecture Model And Runtime Topology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Handover session structure.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is scoped to the reusable chart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54480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belongs in this architecture view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71323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DLH-in-a-box as a Helm chart product.</a:t>
            </a:r>
            <a:endParaRPr lang="en-US" sz="1700" dirty="0"/>
          </a:p>
          <a:p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generic runtime instantiated by the chart.</a:t>
            </a:r>
            <a:endParaRPr lang="en-US" sz="1700" dirty="0"/>
          </a:p>
          <a:p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Upstream dependency sources and packaged artifacts.</a:t>
            </a:r>
            <a:endParaRPr lang="en-US" sz="1700" dirty="0"/>
          </a:p>
          <a:p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Owned component diagrams for chart source, Hive, Trino patch points, validation, and publish automation.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549640" y="1609344"/>
            <a:ext cx="73152" cy="4023360"/>
          </a:xfrm>
          <a:prstGeom prst="rect">
            <a:avLst/>
          </a:prstGeom>
          <a:solidFill>
            <a:srgbClr val="1B6E55">
              <a:alpha val="90000"/>
            </a:srgbClr>
          </a:solidFill>
          <a:ln w="12700">
            <a:solidFill>
              <a:srgbClr val="1B6E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15400" y="187452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DLH-in-a-box as a Helm chart product.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02 / Architecture Model And Runtime Topology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IcePanel model, Modelling Rules.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Level 1: context and consumers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36192"/>
            <a:ext cx="69951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BD2D9">
                <a:alpha val="90000"/>
              </a:srgbClr>
            </a:solidFill>
            <a:prstDash val="solid"/>
          </a:ln>
        </p:spPr>
      </p:sp>
      <p:pic>
        <p:nvPicPr>
          <p:cNvPr id="7" name="Image 0" descr="/Users/CV4/code/dlh-in-a-box-umbrella-helm-chart/docs/architecture/icepanel/exports/dlh-in-a-box/png-light/01-con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250681"/>
            <a:ext cx="6995160" cy="309730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01000" y="1755648"/>
            <a:ext cx="30632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Consumer repositories select chart versions.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Institutional settings live outside the chart product.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runtime is the system operators and users experience.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02 / Architecture Model And Runtime Topology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IcePanel 01-context.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Level 2A: chart product and packaging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36192"/>
            <a:ext cx="69951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BD2D9">
                <a:alpha val="90000"/>
              </a:srgbClr>
            </a:solidFill>
            <a:prstDash val="solid"/>
          </a:ln>
        </p:spPr>
      </p:sp>
      <p:pic>
        <p:nvPicPr>
          <p:cNvPr id="7" name="Image 0" descr="/Users/CV4/code/dlh-in-a-box-umbrella-helm-chart/docs/architecture/icepanel/exports/dlh-in-a-box/png-light/02-chart-product-and-packag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72957"/>
            <a:ext cx="6995160" cy="325274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01000" y="1755648"/>
            <a:ext cx="30632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 source declares dependencies and templates.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Packaged upstream archives make resolution reproducible.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and publish automation protect the package before release.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OCI package is what deployment repos consume.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02 / Architecture Model And Runtime Topology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IcePanel 02-chart-product-and-packaging.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Level 2B: runtime deployed by the chart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36192"/>
            <a:ext cx="69951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BD2D9">
                <a:alpha val="90000"/>
              </a:srgbClr>
            </a:solidFill>
            <a:prstDash val="solid"/>
          </a:ln>
        </p:spPr>
      </p:sp>
      <p:pic>
        <p:nvPicPr>
          <p:cNvPr id="7" name="Image 0" descr="/Users/CV4/code/dlh-in-a-box-umbrella-helm-chart/docs/architecture/icepanel/exports/dlh-in-a-box/png-light/03-runtime-deployed-by-the-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0181" y="1536192"/>
            <a:ext cx="5614958" cy="4526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01000" y="1755648"/>
            <a:ext cx="30632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Trino sits at the centre of the query plane.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and browser entrypoints sit above runtime tools.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Prefect, Spark, and optional apps surround the core data path.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stores belong near the services that own them.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02 / Architecture Model And Runtime Topology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IcePanel 03-runtime-deployed-by-the-chart.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view: everything enabled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36192"/>
            <a:ext cx="69951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BD2D9">
                <a:alpha val="90000"/>
              </a:srgbClr>
            </a:solidFill>
            <a:prstDash val="solid"/>
          </a:ln>
        </p:spPr>
      </p:sp>
      <p:pic>
        <p:nvPicPr>
          <p:cNvPr id="7" name="Image 0" descr="/Users/CV4/code/dlh-in-a-box-umbrella-helm-chart/docs/handover/assets/mermaid/platformAllCompon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038889"/>
            <a:ext cx="6995160" cy="152088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01000" y="1755648"/>
            <a:ext cx="30632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chart is modular; not every install enables every component.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entrypoints, identity, governance, query, orchestration, and storage are separate lanes.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services are still part of the model because examples can turn them on.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02 / Architecture Model And Runtime Topology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manual Platform Architecture Mermaid.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chart assembles the runtime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36192"/>
            <a:ext cx="69951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BD2D9">
                <a:alpha val="90000"/>
              </a:srgbClr>
            </a:solidFill>
            <a:prstDash val="solid"/>
          </a:ln>
        </p:spPr>
      </p:sp>
      <p:pic>
        <p:nvPicPr>
          <p:cNvPr id="7" name="Image 0" descr="/Users/CV4/code/dlh-in-a-box-umbrella-helm-chart/docs/handover/assets/mermaid/assembly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751156"/>
            <a:ext cx="6995160" cy="2096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01000" y="1755648"/>
            <a:ext cx="30632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Values drive validation, templates, dependency charts, and rendered resources.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overlays exercise supported combinations.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 tests rendering and packaging rather than pretending one deployment shape covers all cases.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02 / Architecture Model And Runtime Topology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manual How The Chart Assembles The Runtime Mermaid.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right diagram for the question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572768"/>
          <a:ext cx="10881360" cy="4526280"/>
        </p:xfrm>
        <a:graphic>
          <a:graphicData uri="http://schemas.openxmlformats.org/drawingml/2006/table">
            <a:tbl>
              <a:tblPr/>
              <a:tblGrid>
                <a:gridCol w="5440680"/>
                <a:gridCol w="5440680"/>
              </a:tblGrid>
              <a:tr h="754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Question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E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Best diagram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E55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Who consumes the chart?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Context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gets packaged and published?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Chart product and packaging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runs in a cluster?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Runtime deployed by the chart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Where is local chart logic?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Chart source components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How is CI or publish wired?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Validation and publish automation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02 / Architecture Model And Runtime Topology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IcePanel model diagram set.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checkpoint: trace one feature through the model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554480"/>
            <a:ext cx="5349240" cy="4434840"/>
          </a:xfrm>
          <a:prstGeom prst="rect">
            <a:avLst/>
          </a:prstGeom>
          <a:solidFill>
            <a:srgbClr val="0B1F2A"/>
          </a:solidFill>
          <a:ln w="12700">
            <a:solidFill>
              <a:srgbClr val="0B1F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745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E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Commands / prompts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233172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Open docs/architecture/dlh-in-a-box-icepanel-model.md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Find the Level 2 runtime object for Trino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Follow its relationships to Hive, storage, identity, and Ranger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46520" y="173736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 questions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75120" y="2331720"/>
            <a:ext cx="42519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4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the developer explain whether the change belongs in chart source, a subchart, or consumer settings?</a:t>
            </a:r>
            <a:endParaRPr lang="en-US" sz="1450" dirty="0"/>
          </a:p>
          <a:p>
            <a:r>
              <a:rPr lang="en-US" sz="14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they name the external systems versus repo-owned material?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02 / Architecture Model And Runtime Topology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demo/checkpoint for live handover delivery.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02 landing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0020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inheriting team should now be able to do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2148840"/>
            <a:ext cx="7498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know why there are separate product and runtime views.</a:t>
            </a:r>
            <a:endParaRPr lang="en-US" sz="1800" dirty="0"/>
          </a:p>
          <a:p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can choose the diagram that answers a maintainer question.</a:t>
            </a:r>
            <a:endParaRPr lang="en-US" sz="1800" dirty="0"/>
          </a:p>
          <a:p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understand why deployment-specific infrastructure is mostly outside this model.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732520" y="1737360"/>
            <a:ext cx="2423160" cy="3246120"/>
          </a:xfrm>
          <a:prstGeom prst="rect">
            <a:avLst/>
          </a:prstGeom>
          <a:solidFill>
            <a:srgbClr val="EEF5F2"/>
          </a:solidFill>
          <a:ln w="12700">
            <a:solidFill>
              <a:srgbClr val="EEF5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34272" y="2057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Leave-behind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034272" y="260604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PPTX notes as a presenter script and source-map.md as the reference trail.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02 / Architecture Model And Runtime Topology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Handover session wrap-up.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Wellcome Sanger Institute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Architecture Model And Runtime Topology</dc:title>
  <dc:subject>DLH-in-a-box repository handover</dc:subject>
  <dc:creator>DLH-in-a-box maintainers</dc:creator>
  <cp:lastModifiedBy>DLH-in-a-box maintainers</cp:lastModifiedBy>
  <cp:revision>1</cp:revision>
  <dcterms:created xsi:type="dcterms:W3CDTF">2026-05-15T11:45:54Z</dcterms:created>
  <dcterms:modified xsi:type="dcterms:W3CDTF">2026-05-15T11:45:54Z</dcterms:modified>
</cp:coreProperties>
</file>